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58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01CCBE-D491-11B7-C3A4-1E76E6384D4D}" v="308" dt="2025-12-03T20:31:34.560"/>
    <p1510:client id="{90FA329F-A8B1-9391-9740-6ED1AC4B4912}" v="751" dt="2025-12-03T21:49:09.500"/>
    <p1510:client id="{A8AB399D-1B8E-C9E3-3F9D-4E9F833B1ED8}" v="314" dt="2025-12-03T21:09:34.720"/>
    <p1510:client id="{FC1259BA-A9C3-5279-11FA-61207839813D}" v="7" dt="2025-12-03T20:33:42.0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09E1E9-6CB9-494D-B74C-3A97367552F6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214C02D-84C0-4761-B8AD-0B6AE76144B7}">
      <dgm:prSet custT="1"/>
      <dgm:spPr/>
      <dgm:t>
        <a:bodyPr/>
        <a:lstStyle/>
        <a:p>
          <a:pPr algn="l">
            <a:lnSpc>
              <a:spcPct val="90000"/>
            </a:lnSpc>
          </a:pPr>
          <a:r>
            <a:rPr lang="en-US" sz="3200" dirty="0">
              <a:latin typeface="Aptos"/>
              <a:ea typeface="+mn-ea"/>
              <a:cs typeface="+mn-cs"/>
            </a:rPr>
            <a:t>Handles Highly Non-Linear Relationships</a:t>
          </a:r>
        </a:p>
      </dgm:t>
    </dgm:pt>
    <dgm:pt modelId="{36758E42-A90C-4ACD-BAAA-6EE293B65F28}" type="parTrans" cxnId="{6790DB71-EF68-4D3F-8967-26214BEFB504}">
      <dgm:prSet/>
      <dgm:spPr/>
      <dgm:t>
        <a:bodyPr/>
        <a:lstStyle/>
        <a:p>
          <a:endParaRPr lang="en-US"/>
        </a:p>
      </dgm:t>
    </dgm:pt>
    <dgm:pt modelId="{E1500E57-A4D0-40AF-A679-E69F9C97EF86}" type="sibTrans" cxnId="{6790DB71-EF68-4D3F-8967-26214BEFB504}">
      <dgm:prSet/>
      <dgm:spPr/>
      <dgm:t>
        <a:bodyPr/>
        <a:lstStyle/>
        <a:p>
          <a:endParaRPr lang="en-US"/>
        </a:p>
      </dgm:t>
    </dgm:pt>
    <dgm:pt modelId="{04BC5474-7DEF-4B00-B78A-9132BC8C919D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3200" dirty="0">
              <a:latin typeface="Aptos"/>
              <a:ea typeface="+mn-ea"/>
              <a:cs typeface="+mn-cs"/>
            </a:rPr>
            <a:t>Robust to Noisy, Skewed, and High-Variance Data</a:t>
          </a:r>
        </a:p>
      </dgm:t>
    </dgm:pt>
    <dgm:pt modelId="{03BF7F0B-9419-4E4D-97B1-21FB13010E9C}" type="parTrans" cxnId="{3A79E66A-A49E-44F7-A895-FEE7BB76F08C}">
      <dgm:prSet/>
      <dgm:spPr/>
      <dgm:t>
        <a:bodyPr/>
        <a:lstStyle/>
        <a:p>
          <a:endParaRPr lang="en-US"/>
        </a:p>
      </dgm:t>
    </dgm:pt>
    <dgm:pt modelId="{C3818293-4D51-4E96-90AA-18CE9A6731C6}" type="sibTrans" cxnId="{3A79E66A-A49E-44F7-A895-FEE7BB76F08C}">
      <dgm:prSet/>
      <dgm:spPr/>
      <dgm:t>
        <a:bodyPr/>
        <a:lstStyle/>
        <a:p>
          <a:endParaRPr lang="en-US"/>
        </a:p>
      </dgm:t>
    </dgm:pt>
    <dgm:pt modelId="{A89F7DFF-0D4A-4748-88C4-0C31529CE49D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3200" dirty="0">
              <a:latin typeface="Aptos"/>
              <a:ea typeface="+mn-ea"/>
              <a:cs typeface="+mn-cs"/>
            </a:rPr>
            <a:t>Inherent Feature Importance Improves Explainability</a:t>
          </a:r>
        </a:p>
      </dgm:t>
    </dgm:pt>
    <dgm:pt modelId="{DFD2CE67-F49F-4C8B-A03A-99D767E3263A}" type="parTrans" cxnId="{1FC22A20-2E95-4378-A2EB-1A4CAF2E2AC9}">
      <dgm:prSet/>
      <dgm:spPr/>
      <dgm:t>
        <a:bodyPr/>
        <a:lstStyle/>
        <a:p>
          <a:endParaRPr lang="en-US"/>
        </a:p>
      </dgm:t>
    </dgm:pt>
    <dgm:pt modelId="{322DAADE-B736-4029-AC69-88D25B7EBF4D}" type="sibTrans" cxnId="{1FC22A20-2E95-4378-A2EB-1A4CAF2E2AC9}">
      <dgm:prSet/>
      <dgm:spPr/>
      <dgm:t>
        <a:bodyPr/>
        <a:lstStyle/>
        <a:p>
          <a:endParaRPr lang="en-US"/>
        </a:p>
      </dgm:t>
    </dgm:pt>
    <dgm:pt modelId="{A83B4394-2C12-4BEA-BE1D-9189DEE890E6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3200" dirty="0">
              <a:latin typeface="Aptos"/>
              <a:ea typeface="+mn-ea"/>
              <a:cs typeface="+mn-cs"/>
            </a:rPr>
            <a:t>Stable Results Across Multiple Training Runs</a:t>
          </a:r>
        </a:p>
      </dgm:t>
    </dgm:pt>
    <dgm:pt modelId="{BD238149-05A6-457D-A6A6-DEF315EFA41B}" type="parTrans" cxnId="{280AC4BC-7B71-4809-8D18-944DB1BD2E9D}">
      <dgm:prSet/>
      <dgm:spPr/>
      <dgm:t>
        <a:bodyPr/>
        <a:lstStyle/>
        <a:p>
          <a:endParaRPr lang="en-US"/>
        </a:p>
      </dgm:t>
    </dgm:pt>
    <dgm:pt modelId="{90B569BB-9466-4D80-B706-633604B00BC2}" type="sibTrans" cxnId="{280AC4BC-7B71-4809-8D18-944DB1BD2E9D}">
      <dgm:prSet/>
      <dgm:spPr/>
      <dgm:t>
        <a:bodyPr/>
        <a:lstStyle/>
        <a:p>
          <a:endParaRPr lang="en-US"/>
        </a:p>
      </dgm:t>
    </dgm:pt>
    <dgm:pt modelId="{20DC435B-0D3C-4609-A286-DBB17346EA8C}" type="pres">
      <dgm:prSet presAssocID="{7509E1E9-6CB9-494D-B74C-3A97367552F6}" presName="linear" presStyleCnt="0">
        <dgm:presLayoutVars>
          <dgm:animLvl val="lvl"/>
          <dgm:resizeHandles val="exact"/>
        </dgm:presLayoutVars>
      </dgm:prSet>
      <dgm:spPr/>
    </dgm:pt>
    <dgm:pt modelId="{59DF26F3-322B-4B3B-9AFD-CC6B5A43BAFA}" type="pres">
      <dgm:prSet presAssocID="{E214C02D-84C0-4761-B8AD-0B6AE76144B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A93B930-53AB-4D5B-8C41-036BB26CDF80}" type="pres">
      <dgm:prSet presAssocID="{E1500E57-A4D0-40AF-A679-E69F9C97EF86}" presName="spacer" presStyleCnt="0"/>
      <dgm:spPr/>
    </dgm:pt>
    <dgm:pt modelId="{BE5DE7C0-8D6B-42D1-B48E-FA5293B53732}" type="pres">
      <dgm:prSet presAssocID="{04BC5474-7DEF-4B00-B78A-9132BC8C919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96F4A1A-4ACC-4E57-B4AA-FAF181422765}" type="pres">
      <dgm:prSet presAssocID="{C3818293-4D51-4E96-90AA-18CE9A6731C6}" presName="spacer" presStyleCnt="0"/>
      <dgm:spPr/>
    </dgm:pt>
    <dgm:pt modelId="{2C404CEC-C3C9-4126-B7ED-D3609ECD2D2B}" type="pres">
      <dgm:prSet presAssocID="{A89F7DFF-0D4A-4748-88C4-0C31529CE49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BF5D108-2A0F-4107-BCFC-8257751EDEF6}" type="pres">
      <dgm:prSet presAssocID="{322DAADE-B736-4029-AC69-88D25B7EBF4D}" presName="spacer" presStyleCnt="0"/>
      <dgm:spPr/>
    </dgm:pt>
    <dgm:pt modelId="{5F494323-69C8-44A2-B139-981A57988F39}" type="pres">
      <dgm:prSet presAssocID="{A83B4394-2C12-4BEA-BE1D-9189DEE890E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55D7702-537F-4F4D-8361-77466998E814}" type="presOf" srcId="{04BC5474-7DEF-4B00-B78A-9132BC8C919D}" destId="{BE5DE7C0-8D6B-42D1-B48E-FA5293B53732}" srcOrd="0" destOrd="0" presId="urn:microsoft.com/office/officeart/2005/8/layout/vList2"/>
    <dgm:cxn modelId="{1FC22A20-2E95-4378-A2EB-1A4CAF2E2AC9}" srcId="{7509E1E9-6CB9-494D-B74C-3A97367552F6}" destId="{A89F7DFF-0D4A-4748-88C4-0C31529CE49D}" srcOrd="2" destOrd="0" parTransId="{DFD2CE67-F49F-4C8B-A03A-99D767E3263A}" sibTransId="{322DAADE-B736-4029-AC69-88D25B7EBF4D}"/>
    <dgm:cxn modelId="{008C5F68-B4D5-48CF-BE52-F9DF9D61B516}" type="presOf" srcId="{A83B4394-2C12-4BEA-BE1D-9189DEE890E6}" destId="{5F494323-69C8-44A2-B139-981A57988F39}" srcOrd="0" destOrd="0" presId="urn:microsoft.com/office/officeart/2005/8/layout/vList2"/>
    <dgm:cxn modelId="{3A79E66A-A49E-44F7-A895-FEE7BB76F08C}" srcId="{7509E1E9-6CB9-494D-B74C-3A97367552F6}" destId="{04BC5474-7DEF-4B00-B78A-9132BC8C919D}" srcOrd="1" destOrd="0" parTransId="{03BF7F0B-9419-4E4D-97B1-21FB13010E9C}" sibTransId="{C3818293-4D51-4E96-90AA-18CE9A6731C6}"/>
    <dgm:cxn modelId="{6790DB71-EF68-4D3F-8967-26214BEFB504}" srcId="{7509E1E9-6CB9-494D-B74C-3A97367552F6}" destId="{E214C02D-84C0-4761-B8AD-0B6AE76144B7}" srcOrd="0" destOrd="0" parTransId="{36758E42-A90C-4ACD-BAAA-6EE293B65F28}" sibTransId="{E1500E57-A4D0-40AF-A679-E69F9C97EF86}"/>
    <dgm:cxn modelId="{ABA5CF89-E932-4B67-AC47-E25F7BDC4726}" type="presOf" srcId="{7509E1E9-6CB9-494D-B74C-3A97367552F6}" destId="{20DC435B-0D3C-4609-A286-DBB17346EA8C}" srcOrd="0" destOrd="0" presId="urn:microsoft.com/office/officeart/2005/8/layout/vList2"/>
    <dgm:cxn modelId="{C26BC1A0-ADE9-4007-ABFB-837C268FEB6B}" type="presOf" srcId="{E214C02D-84C0-4761-B8AD-0B6AE76144B7}" destId="{59DF26F3-322B-4B3B-9AFD-CC6B5A43BAFA}" srcOrd="0" destOrd="0" presId="urn:microsoft.com/office/officeart/2005/8/layout/vList2"/>
    <dgm:cxn modelId="{8044D1B9-EB81-45A5-8EA3-F1533EF85E10}" type="presOf" srcId="{A89F7DFF-0D4A-4748-88C4-0C31529CE49D}" destId="{2C404CEC-C3C9-4126-B7ED-D3609ECD2D2B}" srcOrd="0" destOrd="0" presId="urn:microsoft.com/office/officeart/2005/8/layout/vList2"/>
    <dgm:cxn modelId="{280AC4BC-7B71-4809-8D18-944DB1BD2E9D}" srcId="{7509E1E9-6CB9-494D-B74C-3A97367552F6}" destId="{A83B4394-2C12-4BEA-BE1D-9189DEE890E6}" srcOrd="3" destOrd="0" parTransId="{BD238149-05A6-457D-A6A6-DEF315EFA41B}" sibTransId="{90B569BB-9466-4D80-B706-633604B00BC2}"/>
    <dgm:cxn modelId="{B6C27934-47FA-4D38-8DB6-F5C6596E74FE}" type="presParOf" srcId="{20DC435B-0D3C-4609-A286-DBB17346EA8C}" destId="{59DF26F3-322B-4B3B-9AFD-CC6B5A43BAFA}" srcOrd="0" destOrd="0" presId="urn:microsoft.com/office/officeart/2005/8/layout/vList2"/>
    <dgm:cxn modelId="{9DBC1719-4283-4DAA-AFC0-665F76FBC31A}" type="presParOf" srcId="{20DC435B-0D3C-4609-A286-DBB17346EA8C}" destId="{0A93B930-53AB-4D5B-8C41-036BB26CDF80}" srcOrd="1" destOrd="0" presId="urn:microsoft.com/office/officeart/2005/8/layout/vList2"/>
    <dgm:cxn modelId="{825409FC-32A5-46F2-81B3-38CD97ECA04B}" type="presParOf" srcId="{20DC435B-0D3C-4609-A286-DBB17346EA8C}" destId="{BE5DE7C0-8D6B-42D1-B48E-FA5293B53732}" srcOrd="2" destOrd="0" presId="urn:microsoft.com/office/officeart/2005/8/layout/vList2"/>
    <dgm:cxn modelId="{CA046512-B62C-4F1F-B2E3-F278B2603C42}" type="presParOf" srcId="{20DC435B-0D3C-4609-A286-DBB17346EA8C}" destId="{F96F4A1A-4ACC-4E57-B4AA-FAF181422765}" srcOrd="3" destOrd="0" presId="urn:microsoft.com/office/officeart/2005/8/layout/vList2"/>
    <dgm:cxn modelId="{C46CF1B5-3DB9-47A1-95B5-175271008D29}" type="presParOf" srcId="{20DC435B-0D3C-4609-A286-DBB17346EA8C}" destId="{2C404CEC-C3C9-4126-B7ED-D3609ECD2D2B}" srcOrd="4" destOrd="0" presId="urn:microsoft.com/office/officeart/2005/8/layout/vList2"/>
    <dgm:cxn modelId="{36B26C90-875F-4E57-A42D-75B7EA12BBCB}" type="presParOf" srcId="{20DC435B-0D3C-4609-A286-DBB17346EA8C}" destId="{5BF5D108-2A0F-4107-BCFC-8257751EDEF6}" srcOrd="5" destOrd="0" presId="urn:microsoft.com/office/officeart/2005/8/layout/vList2"/>
    <dgm:cxn modelId="{CD159BB1-C358-4B8F-BFF9-E12414FC96B4}" type="presParOf" srcId="{20DC435B-0D3C-4609-A286-DBB17346EA8C}" destId="{5F494323-69C8-44A2-B139-981A57988F3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DF26F3-322B-4B3B-9AFD-CC6B5A43BAFA}">
      <dsp:nvSpPr>
        <dsp:cNvPr id="0" name=""/>
        <dsp:cNvSpPr/>
      </dsp:nvSpPr>
      <dsp:spPr>
        <a:xfrm>
          <a:off x="0" y="42799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Aptos"/>
              <a:ea typeface="+mn-ea"/>
              <a:cs typeface="+mn-cs"/>
            </a:rPr>
            <a:t>Handles Highly Non-Linear Relationships</a:t>
          </a:r>
        </a:p>
      </dsp:txBody>
      <dsp:txXfrm>
        <a:off x="62141" y="104940"/>
        <a:ext cx="6542551" cy="1148678"/>
      </dsp:txXfrm>
    </dsp:sp>
    <dsp:sp modelId="{BE5DE7C0-8D6B-42D1-B48E-FA5293B53732}">
      <dsp:nvSpPr>
        <dsp:cNvPr id="0" name=""/>
        <dsp:cNvSpPr/>
      </dsp:nvSpPr>
      <dsp:spPr>
        <a:xfrm>
          <a:off x="0" y="1407919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Aptos"/>
              <a:ea typeface="+mn-ea"/>
              <a:cs typeface="+mn-cs"/>
            </a:rPr>
            <a:t>Robust to Noisy, Skewed, and High-Variance Data</a:t>
          </a:r>
        </a:p>
      </dsp:txBody>
      <dsp:txXfrm>
        <a:off x="62141" y="1470060"/>
        <a:ext cx="6542551" cy="1148678"/>
      </dsp:txXfrm>
    </dsp:sp>
    <dsp:sp modelId="{2C404CEC-C3C9-4126-B7ED-D3609ECD2D2B}">
      <dsp:nvSpPr>
        <dsp:cNvPr id="0" name=""/>
        <dsp:cNvSpPr/>
      </dsp:nvSpPr>
      <dsp:spPr>
        <a:xfrm>
          <a:off x="0" y="2773040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Aptos"/>
              <a:ea typeface="+mn-ea"/>
              <a:cs typeface="+mn-cs"/>
            </a:rPr>
            <a:t>Inherent Feature Importance Improves Explainability</a:t>
          </a:r>
        </a:p>
      </dsp:txBody>
      <dsp:txXfrm>
        <a:off x="62141" y="2835181"/>
        <a:ext cx="6542551" cy="1148678"/>
      </dsp:txXfrm>
    </dsp:sp>
    <dsp:sp modelId="{5F494323-69C8-44A2-B139-981A57988F39}">
      <dsp:nvSpPr>
        <dsp:cNvPr id="0" name=""/>
        <dsp:cNvSpPr/>
      </dsp:nvSpPr>
      <dsp:spPr>
        <a:xfrm>
          <a:off x="0" y="4138160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Aptos"/>
              <a:ea typeface="+mn-ea"/>
              <a:cs typeface="+mn-cs"/>
            </a:rPr>
            <a:t>Stable Results Across Multiple Training Runs</a:t>
          </a:r>
        </a:p>
      </dsp:txBody>
      <dsp:txXfrm>
        <a:off x="62141" y="4200301"/>
        <a:ext cx="6542551" cy="11486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cfa.nhs.uk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a typeface="+mj-lt"/>
                <a:cs typeface="+mj-lt"/>
              </a:rPr>
              <a:t>Detecting fraudulent health-insurance claims using data-driven methods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Jana Raed</a:t>
            </a:r>
          </a:p>
          <a:p>
            <a:r>
              <a:rPr lang="en-US" dirty="0"/>
              <a:t>Kareem </a:t>
            </a:r>
            <a:r>
              <a:rPr lang="en-US" dirty="0" err="1"/>
              <a:t>Elfeel</a:t>
            </a:r>
          </a:p>
          <a:p>
            <a:r>
              <a:rPr lang="en-US" dirty="0"/>
              <a:t>Youssef Taha</a:t>
            </a:r>
          </a:p>
          <a:p>
            <a:r>
              <a:rPr lang="en-US" dirty="0"/>
              <a:t>Youssef Mazhar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5BD9E7-FA82-68A6-B52E-F66114C76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ea typeface="+mj-lt"/>
                <a:cs typeface="+mj-lt"/>
              </a:rPr>
              <a:t>The Impact of Fraud on the Insurance Business</a:t>
            </a:r>
            <a:endParaRPr lang="en-US" sz="36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4DD29-BDD1-D44C-7087-3C9259896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National Health Service(NHS) in the UK  estimates that they are vulnerable to 1.346Billion worth of fraud each year.</a:t>
            </a:r>
          </a:p>
          <a:p>
            <a:r>
              <a:rPr lang="en-US" sz="1800">
                <a:solidFill>
                  <a:schemeClr val="tx2"/>
                </a:solidFill>
              </a:rPr>
              <a:t>Media Market a journal estimates that by 2033 the fraud on health insurance will rise to 20.4 Billion USD</a:t>
            </a:r>
          </a:p>
          <a:p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 descr="Healthcare Fraud Analytics Market Size">
            <a:extLst>
              <a:ext uri="{FF2B5EF4-FFF2-40B4-BE49-F238E27FC236}">
                <a16:creationId xmlns:a16="http://schemas.microsoft.com/office/drawing/2014/main" id="{AB8A920A-230B-1E51-09B6-B9B6F7DE73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27" b="-2"/>
          <a:stretch>
            <a:fillRect/>
          </a:stretch>
        </p:blipFill>
        <p:spPr>
          <a:xfrm>
            <a:off x="7708392" y="2617676"/>
            <a:ext cx="4142232" cy="254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656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71260-F2B8-2377-5F89-D920F55AB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Objective of the Project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A367B-3BDE-5106-58DF-076287467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Develop an intelligent, data-driven fraud detection system for Medicare.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Improve fraud detection beyond outdated rule-based systems that miss sophisticated schemes.</a:t>
            </a:r>
          </a:p>
          <a:p>
            <a:r>
              <a:rPr lang="en-US" dirty="0">
                <a:ea typeface="+mn-lt"/>
                <a:cs typeface="+mn-lt"/>
              </a:rPr>
              <a:t>Protect the healthcare system from billions in financial losses.</a:t>
            </a:r>
          </a:p>
        </p:txBody>
      </p:sp>
    </p:spTree>
    <p:extLst>
      <p:ext uri="{BB962C8B-B14F-4D97-AF65-F5344CB8AC3E}">
        <p14:creationId xmlns:p14="http://schemas.microsoft.com/office/powerpoint/2010/main" val="1052029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886C6-66B1-BB53-BD2E-F9B18C932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Types of Healthcare Fraud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0AFB7D-14E5-4993-D24A-A74F42BAEE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7287456"/>
              </p:ext>
            </p:extLst>
          </p:nvPr>
        </p:nvGraphicFramePr>
        <p:xfrm>
          <a:off x="458925" y="1714414"/>
          <a:ext cx="11356529" cy="4410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0923">
                  <a:extLst>
                    <a:ext uri="{9D8B030D-6E8A-4147-A177-3AD203B41FA5}">
                      <a16:colId xmlns:a16="http://schemas.microsoft.com/office/drawing/2014/main" val="1766610223"/>
                    </a:ext>
                  </a:extLst>
                </a:gridCol>
                <a:gridCol w="8105606">
                  <a:extLst>
                    <a:ext uri="{9D8B030D-6E8A-4147-A177-3AD203B41FA5}">
                      <a16:colId xmlns:a16="http://schemas.microsoft.com/office/drawing/2014/main" val="3605777436"/>
                    </a:ext>
                  </a:extLst>
                </a:gridCol>
              </a:tblGrid>
              <a:tr h="128380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 dirty="0">
                          <a:latin typeface="Aptos"/>
                        </a:rPr>
                        <a:t>Billing for Services Not Provide</a:t>
                      </a:r>
                      <a:endParaRPr lang="en-US" sz="240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baseline="0" noProof="0" dirty="0">
                          <a:solidFill>
                            <a:schemeClr val="tx1"/>
                          </a:solidFill>
                          <a:latin typeface="Aptos"/>
                        </a:rPr>
                        <a:t>A clinic submits claims for 20 physical therapy sessions for a patient who only visited twice.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74647"/>
                  </a:ext>
                </a:extLst>
              </a:tr>
              <a:tr h="86967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baseline="0" noProof="0" dirty="0">
                          <a:solidFill>
                            <a:schemeClr val="bg1"/>
                          </a:solidFill>
                          <a:latin typeface="Aptos"/>
                        </a:rPr>
                        <a:t>Upcoding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 dirty="0">
                          <a:latin typeface="Aptos"/>
                        </a:rPr>
                        <a:t>A clinic submits claims for 20 physical therapy sessions for a patient who only visited twice.</a:t>
                      </a:r>
                      <a:endParaRPr lang="en-US" sz="2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111662"/>
                  </a:ext>
                </a:extLst>
              </a:tr>
              <a:tr h="103532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 dirty="0">
                          <a:solidFill>
                            <a:schemeClr val="bg1"/>
                          </a:solidFill>
                          <a:latin typeface="Aptos"/>
                        </a:rPr>
                        <a:t>Unbundling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 dirty="0">
                          <a:latin typeface="Aptos"/>
                        </a:rPr>
                        <a:t>A provider bills three different lab tests separately instead of using the single “bundled” test code that includes all three.</a:t>
                      </a:r>
                      <a:endParaRPr lang="en-US" sz="2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930683"/>
                  </a:ext>
                </a:extLst>
              </a:tr>
              <a:tr h="122168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 dirty="0">
                          <a:solidFill>
                            <a:schemeClr val="bg1"/>
                          </a:solidFill>
                          <a:latin typeface="Aptos"/>
                        </a:rPr>
                        <a:t>Duplicate Billing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 dirty="0">
                          <a:latin typeface="Aptos"/>
                        </a:rPr>
                        <a:t>A clinic sends the same claim to the insurer twice—once electronically and once on paper.</a:t>
                      </a:r>
                      <a:endParaRPr lang="en-US" sz="2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325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7543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1854A-FCF7-29E2-9F7A-5C8F54A66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427" y="2766143"/>
            <a:ext cx="10515600" cy="1325563"/>
          </a:xfrm>
          <a:solidFill>
            <a:schemeClr val="accent5"/>
          </a:solidFill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ea typeface="+mj-lt"/>
                <a:cs typeface="+mj-lt"/>
              </a:rPr>
              <a:t>Types of Data Used in the Project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6403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39E31-98C2-B4AF-E82B-07F4808A7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03286"/>
            <a:ext cx="3125638" cy="3330545"/>
          </a:xfr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ea typeface="+mn-lt"/>
                <a:cs typeface="+mn-lt"/>
              </a:rPr>
              <a:t>Age, gender, place of residence</a:t>
            </a:r>
            <a:endParaRPr lang="en-US" sz="2400"/>
          </a:p>
          <a:p>
            <a:pPr marL="0" indent="0" algn="ctr">
              <a:buNone/>
            </a:pPr>
            <a:r>
              <a:rPr lang="en-US" sz="2400" dirty="0">
                <a:ea typeface="+mn-lt"/>
                <a:cs typeface="+mn-lt"/>
              </a:rPr>
              <a:t>Chronic health conditions </a:t>
            </a:r>
            <a:endParaRPr lang="en-US" sz="2400"/>
          </a:p>
          <a:p>
            <a:pPr marL="0" indent="0" algn="ctr">
              <a:buNone/>
            </a:pPr>
            <a:r>
              <a:rPr lang="en-US" sz="2400" dirty="0">
                <a:ea typeface="+mn-lt"/>
                <a:cs typeface="+mn-lt"/>
              </a:rPr>
              <a:t>Unique patient ID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B2852D1-48E3-04E4-46E7-9D0561DBF4BC}"/>
              </a:ext>
            </a:extLst>
          </p:cNvPr>
          <p:cNvSpPr txBox="1">
            <a:spLocks/>
          </p:cNvSpPr>
          <p:nvPr/>
        </p:nvSpPr>
        <p:spPr>
          <a:xfrm>
            <a:off x="838201" y="192596"/>
            <a:ext cx="10515600" cy="1325563"/>
          </a:xfrm>
          <a:prstGeom prst="rect">
            <a:avLst/>
          </a:prstGeom>
          <a:solidFill>
            <a:schemeClr val="accent5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chemeClr val="bg1"/>
                </a:solidFill>
                <a:ea typeface="+mj-lt"/>
                <a:cs typeface="+mj-lt"/>
              </a:rPr>
              <a:t>Types of Data Used in the Project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E88D25-1986-BCF2-760A-BE028B66344C}"/>
              </a:ext>
            </a:extLst>
          </p:cNvPr>
          <p:cNvSpPr txBox="1"/>
          <p:nvPr/>
        </p:nvSpPr>
        <p:spPr>
          <a:xfrm>
            <a:off x="847550" y="1712888"/>
            <a:ext cx="3117011" cy="830997"/>
          </a:xfrm>
          <a:prstGeom prst="rect">
            <a:avLst/>
          </a:prstGeom>
          <a:solidFill>
            <a:schemeClr val="accent5"/>
          </a:solidFill>
          <a:ln w="28575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Beneficiary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Information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69FF0B7-0A88-3DEC-2A00-219250F082A4}"/>
              </a:ext>
            </a:extLst>
          </p:cNvPr>
          <p:cNvSpPr txBox="1">
            <a:spLocks/>
          </p:cNvSpPr>
          <p:nvPr/>
        </p:nvSpPr>
        <p:spPr>
          <a:xfrm>
            <a:off x="4541807" y="2811912"/>
            <a:ext cx="3125638" cy="333054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>
                <a:ea typeface="+mn-lt"/>
                <a:cs typeface="+mn-lt"/>
              </a:rPr>
              <a:t>Facility details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ea typeface="+mn-lt"/>
                <a:cs typeface="+mn-lt"/>
              </a:rPr>
              <a:t>Admission and discharge dates</a:t>
            </a:r>
            <a:endParaRPr lang="en-US" sz="2400"/>
          </a:p>
          <a:p>
            <a:pPr marL="0" indent="0" algn="ctr">
              <a:buNone/>
            </a:pPr>
            <a:r>
              <a:rPr lang="en-US" sz="2400" dirty="0">
                <a:ea typeface="+mn-lt"/>
                <a:cs typeface="+mn-lt"/>
              </a:rPr>
              <a:t>Procedures performed</a:t>
            </a:r>
            <a:endParaRPr lang="en-US" sz="2400" dirty="0"/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9BE9E5-46CE-6601-C236-6328E936C4BB}"/>
              </a:ext>
            </a:extLst>
          </p:cNvPr>
          <p:cNvSpPr txBox="1"/>
          <p:nvPr/>
        </p:nvSpPr>
        <p:spPr>
          <a:xfrm>
            <a:off x="4542530" y="1712887"/>
            <a:ext cx="3117011" cy="830997"/>
          </a:xfrm>
          <a:prstGeom prst="rect">
            <a:avLst/>
          </a:prstGeom>
          <a:solidFill>
            <a:schemeClr val="accent5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Inpatient 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Claims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C230DCB-393D-7971-31A0-1F1ACBC9E59C}"/>
              </a:ext>
            </a:extLst>
          </p:cNvPr>
          <p:cNvSpPr txBox="1">
            <a:spLocks/>
          </p:cNvSpPr>
          <p:nvPr/>
        </p:nvSpPr>
        <p:spPr>
          <a:xfrm>
            <a:off x="8236789" y="2811912"/>
            <a:ext cx="3125638" cy="333054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>
                <a:ea typeface="+mn-lt"/>
                <a:cs typeface="+mn-lt"/>
              </a:rPr>
              <a:t>Doctor visits</a:t>
            </a:r>
            <a:endParaRPr lang="en-US" sz="2400"/>
          </a:p>
          <a:p>
            <a:pPr marL="0" indent="0" algn="ctr">
              <a:buNone/>
            </a:pPr>
            <a:r>
              <a:rPr lang="en-US" sz="2400" dirty="0">
                <a:ea typeface="+mn-lt"/>
                <a:cs typeface="+mn-lt"/>
              </a:rPr>
              <a:t>Tests (ex: Blood Tests)</a:t>
            </a:r>
            <a:endParaRPr lang="en-US" sz="2400"/>
          </a:p>
          <a:p>
            <a:pPr marL="0" indent="0" algn="ctr">
              <a:buNone/>
            </a:pPr>
            <a:r>
              <a:rPr lang="en-US" sz="2400" dirty="0">
                <a:ea typeface="+mn-lt"/>
                <a:cs typeface="+mn-lt"/>
              </a:rPr>
              <a:t>Treatments </a:t>
            </a:r>
            <a:endParaRPr lang="en-US" sz="2400" dirty="0"/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B6EA2F-F1A5-9F00-CE41-5F6C1D42C685}"/>
              </a:ext>
            </a:extLst>
          </p:cNvPr>
          <p:cNvSpPr txBox="1"/>
          <p:nvPr/>
        </p:nvSpPr>
        <p:spPr>
          <a:xfrm>
            <a:off x="8237513" y="1712888"/>
            <a:ext cx="3117011" cy="830997"/>
          </a:xfrm>
          <a:prstGeom prst="rect">
            <a:avLst/>
          </a:prstGeom>
          <a:solidFill>
            <a:schemeClr val="accent5"/>
          </a:solidFill>
          <a:ln w="28575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Outpatient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 Claims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7804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F48F9-D452-C9D3-B371-B489F95F4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Analytical Approach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9A173-F608-815C-C800-553CD63D4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3200" dirty="0"/>
              <a:t>Analyzing the average bill across inpatient and outpatient</a:t>
            </a:r>
            <a:endParaRPr lang="en-US" dirty="0"/>
          </a:p>
          <a:p>
            <a:pPr marL="0" indent="0" algn="ctr">
              <a:buNone/>
            </a:pPr>
            <a:endParaRPr lang="en-US"/>
          </a:p>
          <a:p>
            <a:pPr marL="0" indent="0" algn="ctr">
              <a:buNone/>
            </a:pPr>
            <a:r>
              <a:rPr lang="en-US" sz="3200" dirty="0"/>
              <a:t>Analyzing abnormal frequency pattern</a:t>
            </a:r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r>
              <a:rPr lang="en-US" sz="3200" dirty="0"/>
              <a:t>Comparing health issues to similar health issues bills</a:t>
            </a:r>
          </a:p>
          <a:p>
            <a:pPr marL="0" indent="0" algn="ctr">
              <a:buNone/>
            </a:pPr>
            <a:endParaRPr lang="en-US" sz="3200" dirty="0"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en-US" sz="3200" dirty="0">
                <a:ea typeface="+mn-lt"/>
                <a:cs typeface="+mn-lt"/>
              </a:rPr>
              <a:t>Billing patterns that do not match medical necessity</a:t>
            </a:r>
            <a:endParaRPr lang="en-US" sz="32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01E4AD8-F6D0-56FA-11A5-39827A89FB00}"/>
              </a:ext>
            </a:extLst>
          </p:cNvPr>
          <p:cNvSpPr txBox="1">
            <a:spLocks/>
          </p:cNvSpPr>
          <p:nvPr/>
        </p:nvSpPr>
        <p:spPr>
          <a:xfrm>
            <a:off x="838201" y="192596"/>
            <a:ext cx="10515600" cy="1325563"/>
          </a:xfrm>
          <a:prstGeom prst="rect">
            <a:avLst/>
          </a:prstGeom>
          <a:solidFill>
            <a:schemeClr val="accent5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>
                <a:solidFill>
                  <a:schemeClr val="bg1"/>
                </a:solidFill>
                <a:ea typeface="+mj-lt"/>
                <a:cs typeface="+mj-lt"/>
              </a:rPr>
              <a:t>Analytical Approach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37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5AA38-5607-8BBA-AC8C-279C4240F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Models to solve fraud insurance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B2DECF2-92B9-C6E5-AFA5-7005F58F17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281213"/>
              </p:ext>
            </p:extLst>
          </p:nvPr>
        </p:nvGraphicFramePr>
        <p:xfrm>
          <a:off x="314960" y="1442720"/>
          <a:ext cx="11559203" cy="487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5143">
                  <a:extLst>
                    <a:ext uri="{9D8B030D-6E8A-4147-A177-3AD203B41FA5}">
                      <a16:colId xmlns:a16="http://schemas.microsoft.com/office/drawing/2014/main" val="4171537069"/>
                    </a:ext>
                  </a:extLst>
                </a:gridCol>
                <a:gridCol w="1117599">
                  <a:extLst>
                    <a:ext uri="{9D8B030D-6E8A-4147-A177-3AD203B41FA5}">
                      <a16:colId xmlns:a16="http://schemas.microsoft.com/office/drawing/2014/main" val="2155641959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983032625"/>
                    </a:ext>
                  </a:extLst>
                </a:gridCol>
                <a:gridCol w="1130296">
                  <a:extLst>
                    <a:ext uri="{9D8B030D-6E8A-4147-A177-3AD203B41FA5}">
                      <a16:colId xmlns:a16="http://schemas.microsoft.com/office/drawing/2014/main" val="1333015445"/>
                    </a:ext>
                  </a:extLst>
                </a:gridCol>
                <a:gridCol w="1067327">
                  <a:extLst>
                    <a:ext uri="{9D8B030D-6E8A-4147-A177-3AD203B41FA5}">
                      <a16:colId xmlns:a16="http://schemas.microsoft.com/office/drawing/2014/main" val="753953838"/>
                    </a:ext>
                  </a:extLst>
                </a:gridCol>
                <a:gridCol w="1267754">
                  <a:extLst>
                    <a:ext uri="{9D8B030D-6E8A-4147-A177-3AD203B41FA5}">
                      <a16:colId xmlns:a16="http://schemas.microsoft.com/office/drawing/2014/main" val="2586641793"/>
                    </a:ext>
                  </a:extLst>
                </a:gridCol>
                <a:gridCol w="1267754">
                  <a:extLst>
                    <a:ext uri="{9D8B030D-6E8A-4147-A177-3AD203B41FA5}">
                      <a16:colId xmlns:a16="http://schemas.microsoft.com/office/drawing/2014/main" val="3288507235"/>
                    </a:ext>
                  </a:extLst>
                </a:gridCol>
                <a:gridCol w="1267754">
                  <a:extLst>
                    <a:ext uri="{9D8B030D-6E8A-4147-A177-3AD203B41FA5}">
                      <a16:colId xmlns:a16="http://schemas.microsoft.com/office/drawing/2014/main" val="3954173766"/>
                    </a:ext>
                  </a:extLst>
                </a:gridCol>
                <a:gridCol w="655177">
                  <a:extLst>
                    <a:ext uri="{9D8B030D-6E8A-4147-A177-3AD203B41FA5}">
                      <a16:colId xmlns:a16="http://schemas.microsoft.com/office/drawing/2014/main" val="1452484436"/>
                    </a:ext>
                  </a:extLst>
                </a:gridCol>
                <a:gridCol w="761999">
                  <a:extLst>
                    <a:ext uri="{9D8B030D-6E8A-4147-A177-3AD203B41FA5}">
                      <a16:colId xmlns:a16="http://schemas.microsoft.com/office/drawing/2014/main" val="3362741567"/>
                    </a:ext>
                  </a:extLst>
                </a:gridCol>
              </a:tblGrid>
              <a:tr h="8128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chemeClr val="bg1"/>
                          </a:solidFill>
                          <a:latin typeface="Aptos"/>
                        </a:rPr>
                        <a:t>Algorithm </a:t>
                      </a:r>
                      <a:endParaRPr lang="en-US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chemeClr val="bg1"/>
                          </a:solidFill>
                          <a:latin typeface="Aptos"/>
                        </a:rPr>
                        <a:t>Strategy </a:t>
                      </a:r>
                      <a:endParaRPr lang="en-US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chemeClr val="bg1"/>
                          </a:solidFill>
                          <a:latin typeface="Aptos"/>
                        </a:rPr>
                        <a:t>F1-Score</a:t>
                      </a:r>
                      <a:endParaRPr lang="en-US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chemeClr val="bg1"/>
                          </a:solidFill>
                          <a:latin typeface="Aptos"/>
                        </a:rPr>
                        <a:t>Precision </a:t>
                      </a:r>
                      <a:endParaRPr lang="en-US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chemeClr val="bg1"/>
                          </a:solidFill>
                          <a:latin typeface="Aptos"/>
                        </a:rPr>
                        <a:t>Recall </a:t>
                      </a:r>
                      <a:endParaRPr lang="en-US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chemeClr val="bg1"/>
                          </a:solidFill>
                          <a:latin typeface="Aptos"/>
                        </a:rPr>
                        <a:t>PR-AUC</a:t>
                      </a:r>
                      <a:endParaRPr lang="en-US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chemeClr val="bg1"/>
                          </a:solidFill>
                          <a:latin typeface="Aptos"/>
                        </a:rPr>
                        <a:t>ROC-AUC</a:t>
                      </a:r>
                      <a:endParaRPr lang="en-US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err="1">
                          <a:solidFill>
                            <a:schemeClr val="bg1"/>
                          </a:solidFill>
                          <a:latin typeface="Aptos"/>
                        </a:rPr>
                        <a:t>Train_Time</a:t>
                      </a:r>
                      <a:endParaRPr lang="en-US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chemeClr val="bg1"/>
                          </a:solidFill>
                          <a:latin typeface="Aptos"/>
                        </a:rPr>
                        <a:t>FN </a:t>
                      </a:r>
                      <a:endParaRPr lang="en-US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chemeClr val="bg1"/>
                          </a:solidFill>
                          <a:latin typeface="Aptos"/>
                        </a:rPr>
                        <a:t>FP</a:t>
                      </a:r>
                      <a:endParaRPr lang="en-US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427786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Logistic Regression </a:t>
                      </a:r>
                      <a:endParaRPr lang="en-US" sz="16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SMOTE </a:t>
                      </a:r>
                      <a:endParaRPr lang="en-US" sz="16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0.530769</a:t>
                      </a:r>
                      <a:endParaRPr lang="en-US" sz="16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0.375000</a:t>
                      </a:r>
                      <a:endParaRPr lang="en-US" sz="16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0.907895</a:t>
                      </a:r>
                      <a:endParaRPr lang="en-US" sz="16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0.651507</a:t>
                      </a:r>
                      <a:endParaRPr lang="en-US" sz="16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0.911797</a:t>
                      </a:r>
                      <a:endParaRPr lang="en-US" sz="16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2.339280</a:t>
                      </a:r>
                      <a:endParaRPr lang="en-US" sz="16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7</a:t>
                      </a:r>
                      <a:endParaRPr lang="en-US" sz="16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115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062492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Decision Tree</a:t>
                      </a:r>
                      <a:endParaRPr lang="en-US" sz="16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Class Weights</a:t>
                      </a:r>
                      <a:endParaRPr lang="en-US" sz="16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0.614525 </a:t>
                      </a:r>
                      <a:endParaRPr lang="en-US" sz="16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0.533981</a:t>
                      </a:r>
                      <a:endParaRPr lang="en-US" sz="16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0.723684 </a:t>
                      </a:r>
                      <a:b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</a:br>
                      <a:endParaRPr lang="en-US" sz="1600" b="0" i="0" u="none" strike="noStrike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0.597509 </a:t>
                      </a:r>
                      <a:endParaRPr lang="en-US" sz="16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0.835723 </a:t>
                      </a:r>
                      <a:endParaRPr lang="en-US" sz="16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0.225492 </a:t>
                      </a:r>
                      <a:endParaRPr lang="en-US" sz="16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21 </a:t>
                      </a:r>
                      <a:endParaRPr lang="en-US" sz="16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48</a:t>
                      </a:r>
                      <a:endParaRPr lang="en-US" sz="16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9248168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Random Forest</a:t>
                      </a:r>
                      <a:endParaRPr lang="en-US" sz="1600" dirty="0"/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Class Weights</a:t>
                      </a:r>
                      <a:endParaRPr lang="en-US" sz="1600" dirty="0"/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0.714286</a:t>
                      </a:r>
                      <a:endParaRPr lang="en-US" sz="1600" dirty="0"/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0.705128</a:t>
                      </a:r>
                      <a:endParaRPr lang="en-US" sz="1600" dirty="0"/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0.723684</a:t>
                      </a:r>
                      <a:endParaRPr lang="en-US" sz="1600" dirty="0"/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0.768034</a:t>
                      </a:r>
                      <a:endParaRPr lang="en-US" sz="1600" dirty="0"/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0.965745</a:t>
                      </a:r>
                      <a:endParaRPr lang="en-US" sz="1600" dirty="0"/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1.044055</a:t>
                      </a:r>
                      <a:endParaRPr lang="en-US" sz="1600" dirty="0"/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21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23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91446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err="1">
                          <a:solidFill>
                            <a:srgbClr val="000000"/>
                          </a:solidFill>
                          <a:latin typeface="Aptos"/>
                        </a:rPr>
                        <a:t>XGBoost</a:t>
                      </a:r>
                      <a:endParaRPr lang="en-US" sz="160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Class Weights</a:t>
                      </a:r>
                      <a:endParaRPr lang="en-US" sz="16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0.641975</a:t>
                      </a:r>
                      <a:endParaRPr lang="en-US" sz="16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0.604651</a:t>
                      </a:r>
                      <a:endParaRPr lang="en-US" sz="16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0.684211</a:t>
                      </a:r>
                      <a:endParaRPr lang="en-US" sz="16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0.779496</a:t>
                      </a:r>
                      <a:endParaRPr lang="en-US" sz="16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0.961260</a:t>
                      </a:r>
                      <a:endParaRPr lang="en-US" sz="16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0.994883</a:t>
                      </a:r>
                      <a:endParaRPr lang="en-US" sz="16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24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34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405889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SVM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SMOTE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0.571429</a:t>
                      </a:r>
                      <a:endParaRPr lang="en-US" sz="16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0.425806</a:t>
                      </a:r>
                      <a:endParaRPr lang="en-US" sz="16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0.868421</a:t>
                      </a:r>
                      <a:endParaRPr lang="en-US" sz="16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0.507729</a:t>
                      </a:r>
                      <a:endParaRPr lang="en-US" sz="16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0.931865</a:t>
                      </a:r>
                      <a:endParaRPr lang="en-US" sz="16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9.593154 </a:t>
                      </a:r>
                      <a:endParaRPr lang="en-US" sz="16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89</a:t>
                      </a:r>
                    </a:p>
                    <a:p>
                      <a:pPr lvl="0" algn="ctr">
                        <a:buNone/>
                      </a:pPr>
                      <a:endParaRPr lang="en-US" sz="16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917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8755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10C0A-CD09-7A0D-0CF3-67AC70CBD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ea typeface="+mj-lt"/>
                <a:cs typeface="+mj-lt"/>
              </a:rPr>
              <a:t>Why Random Forest?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166F3-D17E-0B91-E609-1386AF6C6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Highest Overall Test Performance</a:t>
            </a:r>
          </a:p>
          <a:p>
            <a:pPr marL="0" indent="0">
              <a:buNone/>
            </a:pPr>
            <a:r>
              <a:rPr lang="en-US" dirty="0"/>
              <a:t>Random Forest Test Accuracy: 94.57%</a:t>
            </a:r>
          </a:p>
          <a:p>
            <a:pPr marL="0" indent="0">
              <a:buNone/>
            </a:pPr>
            <a:r>
              <a:rPr lang="en-US" dirty="0"/>
              <a:t>Best balance of TP (55) and TN (712)</a:t>
            </a:r>
          </a:p>
          <a:p>
            <a:pPr marL="0" indent="0">
              <a:buNone/>
            </a:pPr>
            <a:r>
              <a:rPr lang="en-US" dirty="0"/>
              <a:t>Lowest False Positive Rate: 3.13% → minimizes unnecessary investigations</a:t>
            </a:r>
          </a:p>
          <a:p>
            <a:pPr marL="0" indent="0">
              <a:buNone/>
            </a:pPr>
            <a:r>
              <a:rPr lang="en-US" dirty="0"/>
              <a:t>Balanced Recall: 72.37% → captures most fraud while controlling costs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01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49FE4E-D246-6B4C-9D25-4C2582AA0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Why Random Forest?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B33825-6922-0556-3BC7-83E0EE7321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7039119"/>
              </p:ext>
            </p:extLst>
          </p:nvPr>
        </p:nvGraphicFramePr>
        <p:xfrm>
          <a:off x="4513166" y="717783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3840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CC4EA-128E-535F-E85B-8AB1EC8CF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142CD-98B9-DB71-5365-8238E7735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arenR"/>
            </a:pPr>
            <a:r>
              <a:rPr lang="en-US" dirty="0">
                <a:ea typeface="+mn-lt"/>
                <a:cs typeface="+mn-lt"/>
                <a:hlinkClick r:id="rId2"/>
              </a:rPr>
              <a:t>https://cfa.nhs.uk/</a:t>
            </a:r>
            <a:endParaRPr lang="en-US">
              <a:ea typeface="+mn-lt"/>
              <a:cs typeface="+mn-lt"/>
            </a:endParaRPr>
          </a:p>
          <a:p>
            <a:pPr marL="514350" indent="-514350">
              <a:buAutoNum type="arabicParenR"/>
            </a:pPr>
            <a:r>
              <a:rPr lang="en-US" dirty="0">
                <a:ea typeface="+mn-lt"/>
                <a:cs typeface="+mn-lt"/>
              </a:rPr>
              <a:t>https://media.market.us/healthcare-fraud-analytics-market-news/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80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erial view of a highway near the ocean">
            <a:extLst>
              <a:ext uri="{FF2B5EF4-FFF2-40B4-BE49-F238E27FC236}">
                <a16:creationId xmlns:a16="http://schemas.microsoft.com/office/drawing/2014/main" id="{CC6A1EB1-A32B-4247-8F15-D7E58B8813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58" r="-2" b="17070"/>
          <a:stretch>
            <a:fillRect/>
          </a:stretch>
        </p:blipFill>
        <p:spPr>
          <a:xfrm>
            <a:off x="20" y="-7619"/>
            <a:ext cx="12191979" cy="688736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7620"/>
            <a:ext cx="5566593" cy="6887364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067CD3-146F-6228-E362-39AA720C2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863442" y="855815"/>
            <a:ext cx="6887365" cy="5160474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1000"/>
                </a:schemeClr>
              </a:gs>
              <a:gs pos="83000">
                <a:schemeClr val="accent5">
                  <a:alpha val="0"/>
                </a:schemeClr>
              </a:gs>
            </a:gsLst>
            <a:lin ang="51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1C7E5C-A0F8-E9FA-56DB-31A257FD4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-7648"/>
            <a:ext cx="2079513" cy="6865647"/>
          </a:xfrm>
          <a:prstGeom prst="rect">
            <a:avLst/>
          </a:prstGeom>
          <a:gradFill flip="none" rotWithShape="1">
            <a:gsLst>
              <a:gs pos="5000">
                <a:schemeClr val="accent5"/>
              </a:gs>
              <a:gs pos="49000">
                <a:schemeClr val="accent5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F70A3C-4474-2A39-470C-FD55A8837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7706777" y="3068761"/>
            <a:ext cx="4504659" cy="378923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60000">
                <a:schemeClr val="accent5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C3F7D4-9613-0E1F-901C-98FE831DE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8774557" y="-6485"/>
            <a:ext cx="3427160" cy="6879745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D5167C-AF48-26F0-7A9F-3F7643374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64705" y="-1061856"/>
            <a:ext cx="3682024" cy="12211438"/>
          </a:xfrm>
          <a:prstGeom prst="rect">
            <a:avLst/>
          </a:prstGeom>
          <a:gradFill>
            <a:gsLst>
              <a:gs pos="0">
                <a:schemeClr val="accent5"/>
              </a:gs>
              <a:gs pos="65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B30A01-FCA8-86A5-A840-C32A3BE2E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6" y="-7639"/>
            <a:ext cx="4879823" cy="6887373"/>
          </a:xfrm>
          <a:prstGeom prst="rect">
            <a:avLst/>
          </a:prstGeom>
          <a:gradFill>
            <a:gsLst>
              <a:gs pos="0">
                <a:schemeClr val="accent2">
                  <a:alpha val="70000"/>
                </a:schemeClr>
              </a:gs>
              <a:gs pos="44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455744-04C3-62AE-E02C-805993B45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028" y="2155188"/>
            <a:ext cx="4160233" cy="28392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02951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Detecting fraudulent health-insurance claims using data-driven methods</vt:lpstr>
      <vt:lpstr>The Impact of Fraud on the Insurance Business</vt:lpstr>
      <vt:lpstr>Objective of the Project</vt:lpstr>
      <vt:lpstr>Types of Healthcare Fraud</vt:lpstr>
      <vt:lpstr>Types of Data Used in the Project</vt:lpstr>
      <vt:lpstr>PowerPoint Presentation</vt:lpstr>
      <vt:lpstr>Analytical Approach</vt:lpstr>
      <vt:lpstr>Types of Models to solve fraud insurance</vt:lpstr>
      <vt:lpstr>Why Random Forest?</vt:lpstr>
      <vt:lpstr>Why Random Forest? </vt:lpstr>
      <vt:lpstr>Reference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642</cp:revision>
  <dcterms:created xsi:type="dcterms:W3CDTF">2025-12-03T19:45:56Z</dcterms:created>
  <dcterms:modified xsi:type="dcterms:W3CDTF">2025-12-03T21:49:28Z</dcterms:modified>
</cp:coreProperties>
</file>